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710" autoAdjust="0"/>
  </p:normalViewPr>
  <p:slideViewPr>
    <p:cSldViewPr snapToGrid="0" snapToObjects="1">
      <p:cViewPr varScale="1">
        <p:scale>
          <a:sx n="77" d="100"/>
          <a:sy n="77" d="100"/>
        </p:scale>
        <p:origin x="132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459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and thank you, Lily and the executive team, for joining today. This presentation analyzes 12 months of Cyclistic trip data from 2026 to uncover how annual members and casual riders use our bikes differently. Based on these behavioral findings, we will share three targeted marketing recommendations to convert casual riders into annual members.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primary business task is to answer how annual members and casual riders use </a:t>
            </a:r>
            <a:r>
              <a:rPr dirty="0" err="1"/>
              <a:t>Cyclistic</a:t>
            </a:r>
            <a:r>
              <a:rPr dirty="0"/>
              <a:t> bikes differently, with the clear marketing goal of converting casual riders into annual members. To build a reliable foundation, we examined 12 months of </a:t>
            </a:r>
            <a:r>
              <a:rPr dirty="0" err="1"/>
              <a:t>Cyclistic</a:t>
            </a:r>
            <a:r>
              <a:rPr dirty="0"/>
              <a:t> trip data totaling 6.01 million rides. The dataset was thoroughly cleaned, analyzed across time and bike types, and visualized in Power BI.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Power BI dashboard gives a complete view of 6.01 million total rides recorded over the 12-month period. Annual members account for 3.90 million rides, or 64.87 percent, while casual riders represent 2.11 million rides, or 35.13 percent, and electric bikes make up 70.39 percent of all trips. With over two million casual trips already taking place, converting even a modest share of casual riders will drive substantial membership growth.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Weekly trip volume reveals a sharp contrast between weekday and weekend behavior. Annual members ride roughly twice as often as casual riders from Monday through Thursday, between 0.55 million and 0.64 million trips daily, before the gap narrows on Friday. Casual ridership climbs sharply on weekends and peaks on Saturday at about 0.45 million rides, nearly matching the 0.50 million member rides.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we examine average ride duration, casual riders consistently take longer rides in time than annual members on every day of the week. Casual rides average 15 to 18 minutes on weekdays and 20 to 21 minutes on Saturday and Sunday, compared to a steady 11.5 to 13 minutes for members. Because this metric captures longer rides in time rather than distance, it points toward leisure and city exploration versus short routine trips.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Hourly ride demand highlights two distinct daily rhythms, which we interpret as likely explanations rather than proven facts. Annual members peak sharply at 8 AM with about 0.29 million rides and 5 PM with about 0.42 million rides alongside a 0.2 million midday plateau, matching typical commuting hours. Meanwhile, casual rides climb steadily from 5 AM to a single 5 PM peak of about 0.2 million rides and slightly exceed member rides from midnight to 3 AM, consistent with leisure activity.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Across the entire 6.01 million ride dataset, electric bikes dominate with 4.23 million rides, or 70.39 percent, compared to 1.78 million rides, or 29.61 percent, on classic bikes. Alongside our 3.90 million member rides and 2.11 million casual rides, high e-bike adoption shows that electric bikes are popular with everyone. Promoting e-bike perks as a core membership benefit therefore gives casual riders a strong incentive to convert.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convert casual riders into annual members, we recommend three actions, each tied to a pattern in our data. First, launch a weekend or flexible membership offer, because casual rides peak on Saturday at about 0.45 million, almost level with members. We would track the weekend conversion rate. Second, send in-app and email prompts after long rides that compare what the rider paid with the cost of membership, because casual riders average 15 to 21 minutes per ride against 11.5 to 13 for members. We would track click-through and sign-ups. Third, make discounted e-bike unlocks the headline member perk, because 70.39 percent of all rides are electric. We would track e-bike share among new sign-ups. Our next step is to pilot these offers and analyze seasonality and start-station data to target the campaigns.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4F0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Rectangle 3"/>
          <p:cNvSpPr/>
          <p:nvPr/>
        </p:nvSpPr>
        <p:spPr>
          <a:xfrm>
            <a:off x="0" y="5989320"/>
            <a:ext cx="12191695" cy="868680"/>
          </a:xfrm>
          <a:prstGeom prst="rect">
            <a:avLst/>
          </a:prstGeom>
          <a:solidFill>
            <a:srgbClr val="163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0" y="5943600"/>
            <a:ext cx="12191695" cy="45720"/>
          </a:xfrm>
          <a:prstGeom prst="rect">
            <a:avLst/>
          </a:prstGeom>
          <a:solidFill>
            <a:srgbClr val="3B8E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6" name="Picture 5" descr="cyclistic_logo.png"/>
          <p:cNvPicPr>
            <a:picLocks noChangeAspect="1"/>
          </p:cNvPicPr>
          <p:nvPr/>
        </p:nvPicPr>
        <p:blipFill>
          <a:blip r:embed="rId3"/>
          <a:stretch>
            <a:fillRect/>
          </a:stretch>
        </p:blipFill>
        <p:spPr>
          <a:xfrm>
            <a:off x="777240" y="1051560"/>
            <a:ext cx="1234440" cy="1234440"/>
          </a:xfrm>
          <a:prstGeom prst="rect">
            <a:avLst/>
          </a:prstGeom>
          <a:ln>
            <a:noFill/>
          </a:ln>
        </p:spPr>
      </p:pic>
      <p:sp>
        <p:nvSpPr>
          <p:cNvPr id="7" name="TextBox 6"/>
          <p:cNvSpPr txBox="1"/>
          <p:nvPr/>
        </p:nvSpPr>
        <p:spPr>
          <a:xfrm>
            <a:off x="777240" y="2560320"/>
            <a:ext cx="10607040" cy="2194560"/>
          </a:xfrm>
          <a:prstGeom prst="rect">
            <a:avLst/>
          </a:prstGeom>
          <a:noFill/>
        </p:spPr>
        <p:txBody>
          <a:bodyPr wrap="square" lIns="0" tIns="0" rIns="0" bIns="0" anchor="t">
            <a:spAutoFit/>
          </a:bodyPr>
          <a:lstStyle/>
          <a:p>
            <a:pPr algn="l">
              <a:spcAft>
                <a:spcPts val="1200"/>
              </a:spcAft>
            </a:pPr>
            <a:r>
              <a:rPr sz="4800" b="1">
                <a:solidFill>
                  <a:srgbClr val="E4F05A"/>
                </a:solidFill>
                <a:latin typeface="Inter Display"/>
              </a:rPr>
              <a:t>CYCLISTIC BIKE-SHARE</a:t>
            </a:r>
          </a:p>
          <a:p>
            <a:pPr algn="l">
              <a:spcAft>
                <a:spcPts val="1600"/>
              </a:spcAft>
            </a:pPr>
            <a:r>
              <a:rPr sz="2800" b="0">
                <a:solidFill>
                  <a:srgbClr val="F8FAFC"/>
                </a:solidFill>
                <a:latin typeface="Inter Display"/>
              </a:rPr>
              <a:t>Rider Behavior &amp; Trend (2026)</a:t>
            </a:r>
          </a:p>
        </p:txBody>
      </p:sp>
      <p:sp>
        <p:nvSpPr>
          <p:cNvPr id="8" name="TextBox 7"/>
          <p:cNvSpPr txBox="1"/>
          <p:nvPr/>
        </p:nvSpPr>
        <p:spPr>
          <a:xfrm>
            <a:off x="777240" y="6217920"/>
            <a:ext cx="10607040" cy="246221"/>
          </a:xfrm>
          <a:prstGeom prst="rect">
            <a:avLst/>
          </a:prstGeom>
          <a:noFill/>
        </p:spPr>
        <p:txBody>
          <a:bodyPr wrap="square" lIns="0" tIns="0" rIns="0" bIns="0" anchor="t">
            <a:spAutoFit/>
          </a:bodyPr>
          <a:lstStyle/>
          <a:p>
            <a:pPr algn="l"/>
            <a:r>
              <a:rPr sz="1600" b="1" dirty="0">
                <a:solidFill>
                  <a:srgbClr val="E4F05A"/>
                </a:solidFill>
                <a:latin typeface="Inter"/>
              </a:rPr>
              <a:t>Presenter: </a:t>
            </a:r>
            <a:r>
              <a:rPr sz="1600" b="0" dirty="0">
                <a:solidFill>
                  <a:srgbClr val="F8FAFC"/>
                </a:solidFill>
                <a:latin typeface="Inter"/>
              </a:rPr>
              <a:t>Daravireak Chann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Box 3"/>
          <p:cNvSpPr txBox="1"/>
          <p:nvPr/>
        </p:nvSpPr>
        <p:spPr>
          <a:xfrm>
            <a:off x="731520" y="329184"/>
            <a:ext cx="10698480" cy="1280160"/>
          </a:xfrm>
          <a:prstGeom prst="rect">
            <a:avLst/>
          </a:prstGeom>
          <a:noFill/>
        </p:spPr>
        <p:txBody>
          <a:bodyPr wrap="square" lIns="0" tIns="0" rIns="0" bIns="0" anchor="t">
            <a:spAutoFit/>
          </a:bodyPr>
          <a:lstStyle/>
          <a:p>
            <a:pPr algn="l">
              <a:spcAft>
                <a:spcPts val="400"/>
              </a:spcAft>
            </a:pPr>
            <a:r>
              <a:rPr sz="1400" b="1" dirty="0">
                <a:solidFill>
                  <a:srgbClr val="3B8E9E"/>
                </a:solidFill>
                <a:latin typeface="Inter"/>
              </a:rPr>
              <a:t>BUSINESS TASK &amp; METHODOLOGY</a:t>
            </a:r>
          </a:p>
          <a:p>
            <a:pPr algn="l"/>
            <a:r>
              <a:rPr sz="3000" b="1" dirty="0">
                <a:solidFill>
                  <a:srgbClr val="1F4E5A"/>
                </a:solidFill>
                <a:latin typeface="Inter Display"/>
              </a:rPr>
              <a:t>Understanding Rider Differences Unlocks Membership Growth</a:t>
            </a:r>
          </a:p>
        </p:txBody>
      </p:sp>
      <p:sp>
        <p:nvSpPr>
          <p:cNvPr id="5" name="Rounded Rectangle 4"/>
          <p:cNvSpPr/>
          <p:nvPr/>
        </p:nvSpPr>
        <p:spPr>
          <a:xfrm>
            <a:off x="731520" y="2057400"/>
            <a:ext cx="5120640" cy="3931920"/>
          </a:xfrm>
          <a:prstGeom prst="roundRect">
            <a:avLst>
              <a:gd name="adj" fmla="val 6000"/>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1051560" y="2331720"/>
            <a:ext cx="4480560" cy="3383280"/>
          </a:xfrm>
          <a:prstGeom prst="rect">
            <a:avLst/>
          </a:prstGeom>
          <a:noFill/>
        </p:spPr>
        <p:txBody>
          <a:bodyPr wrap="square" lIns="0" tIns="0" rIns="0" bIns="0" anchor="t">
            <a:spAutoFit/>
          </a:bodyPr>
          <a:lstStyle/>
          <a:p>
            <a:pPr>
              <a:spcAft>
                <a:spcPts val="1000"/>
              </a:spcAft>
            </a:pPr>
            <a:r>
              <a:rPr sz="1500" b="1" dirty="0">
                <a:solidFill>
                  <a:srgbClr val="E4F05A"/>
                </a:solidFill>
                <a:latin typeface="Inter"/>
              </a:rPr>
              <a:t>KEY QUESTION</a:t>
            </a:r>
          </a:p>
          <a:p>
            <a:pPr>
              <a:spcAft>
                <a:spcPts val="2200"/>
              </a:spcAft>
            </a:pPr>
            <a:r>
              <a:rPr sz="2200" b="1" dirty="0">
                <a:solidFill>
                  <a:srgbClr val="FFFFFF"/>
                </a:solidFill>
                <a:latin typeface="Inter Display"/>
              </a:rPr>
              <a:t>"How do annual members and casual riders use </a:t>
            </a:r>
            <a:r>
              <a:rPr sz="2200" b="1" dirty="0" err="1">
                <a:solidFill>
                  <a:srgbClr val="FFFFFF"/>
                </a:solidFill>
                <a:latin typeface="Inter Display"/>
              </a:rPr>
              <a:t>Cyclistic</a:t>
            </a:r>
            <a:r>
              <a:rPr sz="2200" b="1" dirty="0">
                <a:solidFill>
                  <a:srgbClr val="FFFFFF"/>
                </a:solidFill>
                <a:latin typeface="Inter Display"/>
              </a:rPr>
              <a:t> bikes differently?"</a:t>
            </a:r>
          </a:p>
          <a:p>
            <a:pPr>
              <a:spcAft>
                <a:spcPts val="800"/>
              </a:spcAft>
            </a:pPr>
            <a:r>
              <a:rPr sz="1500" b="1" dirty="0">
                <a:solidFill>
                  <a:srgbClr val="E4F05A"/>
                </a:solidFill>
                <a:latin typeface="Inter"/>
              </a:rPr>
              <a:t>GOAL</a:t>
            </a:r>
          </a:p>
          <a:p>
            <a:r>
              <a:rPr sz="1800" b="0" dirty="0">
                <a:solidFill>
                  <a:srgbClr val="F8FAFC"/>
                </a:solidFill>
                <a:latin typeface="Inter"/>
              </a:rPr>
              <a:t>Convert casual riders to annual members.</a:t>
            </a:r>
          </a:p>
        </p:txBody>
      </p:sp>
      <p:sp>
        <p:nvSpPr>
          <p:cNvPr id="7" name="Rounded Rectangle 6"/>
          <p:cNvSpPr/>
          <p:nvPr/>
        </p:nvSpPr>
        <p:spPr>
          <a:xfrm>
            <a:off x="6263640" y="2057400"/>
            <a:ext cx="5166360" cy="3931920"/>
          </a:xfrm>
          <a:prstGeom prst="roundRect">
            <a:avLst>
              <a:gd name="adj" fmla="val 6000"/>
            </a:avLst>
          </a:prstGeom>
          <a:solidFill>
            <a:srgbClr val="EAF3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583680" y="2331720"/>
            <a:ext cx="4526280" cy="2333972"/>
          </a:xfrm>
          <a:prstGeom prst="rect">
            <a:avLst/>
          </a:prstGeom>
          <a:noFill/>
        </p:spPr>
        <p:txBody>
          <a:bodyPr wrap="square" lIns="0" tIns="0" rIns="0" bIns="0" anchor="t">
            <a:spAutoFit/>
          </a:bodyPr>
          <a:lstStyle/>
          <a:p>
            <a:pPr>
              <a:spcAft>
                <a:spcPts val="1800"/>
              </a:spcAft>
            </a:pPr>
            <a:r>
              <a:rPr sz="2200" b="1" dirty="0">
                <a:solidFill>
                  <a:srgbClr val="3B8E9E"/>
                </a:solidFill>
                <a:latin typeface="Inter Display"/>
              </a:rPr>
              <a:t>Data &amp; Method</a:t>
            </a:r>
          </a:p>
          <a:p>
            <a:pPr marL="219456" indent="-219456">
              <a:spcAft>
                <a:spcPts val="1600"/>
              </a:spcAft>
              <a:buFont typeface="Inter"/>
              <a:buChar char="•"/>
            </a:pPr>
            <a:r>
              <a:rPr sz="1800" b="1" dirty="0">
                <a:solidFill>
                  <a:srgbClr val="1F4E5A"/>
                </a:solidFill>
                <a:latin typeface="Inter"/>
              </a:rPr>
              <a:t>Data: </a:t>
            </a:r>
            <a:r>
              <a:rPr sz="1700" b="0" dirty="0">
                <a:solidFill>
                  <a:srgbClr val="132A32"/>
                </a:solidFill>
                <a:latin typeface="Inter"/>
              </a:rPr>
              <a:t>12 months of </a:t>
            </a:r>
            <a:r>
              <a:rPr sz="1700" b="0" dirty="0" err="1">
                <a:solidFill>
                  <a:srgbClr val="132A32"/>
                </a:solidFill>
                <a:latin typeface="Inter"/>
              </a:rPr>
              <a:t>Cyclistic</a:t>
            </a:r>
            <a:r>
              <a:rPr sz="1700" b="0" dirty="0">
                <a:solidFill>
                  <a:srgbClr val="132A32"/>
                </a:solidFill>
                <a:latin typeface="Inter"/>
              </a:rPr>
              <a:t> trip data.</a:t>
            </a:r>
          </a:p>
          <a:p>
            <a:pPr marL="219456" indent="-219456">
              <a:spcAft>
                <a:spcPts val="1600"/>
              </a:spcAft>
              <a:buFont typeface="Inter"/>
              <a:buChar char="•"/>
            </a:pPr>
            <a:r>
              <a:rPr sz="1800" b="1" dirty="0">
                <a:solidFill>
                  <a:srgbClr val="1F4E5A"/>
                </a:solidFill>
                <a:latin typeface="Inter"/>
              </a:rPr>
              <a:t>Process: </a:t>
            </a:r>
            <a:r>
              <a:rPr sz="1700" b="0" dirty="0">
                <a:solidFill>
                  <a:srgbClr val="132A32"/>
                </a:solidFill>
                <a:latin typeface="Inter"/>
              </a:rPr>
              <a:t>Cleaned and analyzed for rider patterns.</a:t>
            </a:r>
          </a:p>
          <a:p>
            <a:pPr marL="219456" indent="-219456">
              <a:spcAft>
                <a:spcPts val="1600"/>
              </a:spcAft>
              <a:buFont typeface="Inter"/>
              <a:buChar char="•"/>
            </a:pPr>
            <a:r>
              <a:rPr sz="1800" b="1" dirty="0">
                <a:solidFill>
                  <a:srgbClr val="1F4E5A"/>
                </a:solidFill>
                <a:latin typeface="Inter"/>
              </a:rPr>
              <a:t>Tool: </a:t>
            </a:r>
            <a:r>
              <a:rPr sz="1700" b="0" dirty="0">
                <a:solidFill>
                  <a:srgbClr val="132A32"/>
                </a:solidFill>
                <a:latin typeface="Inter"/>
              </a:rPr>
              <a:t>Visualized in Power BI</a:t>
            </a:r>
            <a:r>
              <a:rPr lang="en-US" sz="1700" b="0" dirty="0">
                <a:solidFill>
                  <a:srgbClr val="132A32"/>
                </a:solidFill>
                <a:latin typeface="Inter"/>
              </a:rPr>
              <a:t>, cleaned and processed data with python</a:t>
            </a:r>
            <a:r>
              <a:rPr sz="1700" b="0" dirty="0">
                <a:solidFill>
                  <a:srgbClr val="132A32"/>
                </a:solidFill>
                <a:latin typeface="Inter"/>
              </a:rPr>
              <a:t>.</a:t>
            </a:r>
          </a:p>
        </p:txBody>
      </p:sp>
      <p:sp>
        <p:nvSpPr>
          <p:cNvPr id="9" name="Rectangle 8"/>
          <p:cNvSpPr/>
          <p:nvPr/>
        </p:nvSpPr>
        <p:spPr>
          <a:xfrm>
            <a:off x="0" y="6236208"/>
            <a:ext cx="12191695" cy="621792"/>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31520" y="6364224"/>
            <a:ext cx="10698480" cy="384048"/>
          </a:xfrm>
          <a:prstGeom prst="rect">
            <a:avLst/>
          </a:prstGeom>
          <a:noFill/>
        </p:spPr>
        <p:txBody>
          <a:bodyPr wrap="square" lIns="0" tIns="0" rIns="0" bIns="0" anchor="t">
            <a:spAutoFit/>
          </a:bodyPr>
          <a:lstStyle/>
          <a:p>
            <a:pPr algn="l"/>
            <a:r>
              <a:rPr sz="1500" b="1" dirty="0">
                <a:solidFill>
                  <a:srgbClr val="E4F05A"/>
                </a:solidFill>
                <a:latin typeface="Inter"/>
              </a:rPr>
              <a:t>So what? </a:t>
            </a:r>
            <a:r>
              <a:rPr sz="1500" b="0" dirty="0">
                <a:solidFill>
                  <a:srgbClr val="F8FAFC"/>
                </a:solidFill>
                <a:latin typeface="Inter"/>
              </a:rPr>
              <a:t>Comparing 3.90M member rides and 2.11M casual rides reveals high-return conversion levers.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 name="Picture 2" descr="slide3_dashboard_bg.png"/>
          <p:cNvPicPr>
            <a:picLocks noChangeAspect="1"/>
          </p:cNvPicPr>
          <p:nvPr/>
        </p:nvPicPr>
        <p:blipFill>
          <a:blip r:embed="rId3"/>
          <a:stretch>
            <a:fillRect/>
          </a:stretch>
        </p:blipFill>
        <p:spPr>
          <a:xfrm>
            <a:off x="0" y="0"/>
            <a:ext cx="12191695" cy="6858000"/>
          </a:xfrm>
          <a:prstGeom prst="rect">
            <a:avLst/>
          </a:prstGeom>
          <a:ln>
            <a:noFill/>
          </a:ln>
        </p:spPr>
      </p:pic>
      <p:sp>
        <p:nvSpPr>
          <p:cNvPr id="4" name="Rectangle 3"/>
          <p:cNvSpPr/>
          <p:nvPr/>
        </p:nvSpPr>
        <p:spPr>
          <a:xfrm>
            <a:off x="0" y="0"/>
            <a:ext cx="12191695" cy="25146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0" y="0"/>
            <a:ext cx="12191695" cy="109728"/>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731520" y="329184"/>
            <a:ext cx="10698480" cy="1280160"/>
          </a:xfrm>
          <a:prstGeom prst="rect">
            <a:avLst/>
          </a:prstGeom>
          <a:noFill/>
        </p:spPr>
        <p:txBody>
          <a:bodyPr wrap="square" lIns="0" tIns="0" rIns="0" bIns="0" anchor="t">
            <a:spAutoFit/>
          </a:bodyPr>
          <a:lstStyle/>
          <a:p>
            <a:pPr algn="l">
              <a:spcAft>
                <a:spcPts val="400"/>
              </a:spcAft>
            </a:pPr>
            <a:r>
              <a:rPr sz="1400" b="1">
                <a:solidFill>
                  <a:srgbClr val="3B8E9E"/>
                </a:solidFill>
                <a:latin typeface="Inter"/>
              </a:rPr>
              <a:t>POWER BI DASHBOARD OVERVIEW</a:t>
            </a:r>
          </a:p>
          <a:p>
            <a:pPr algn="l"/>
            <a:r>
              <a:rPr sz="3000" b="1">
                <a:solidFill>
                  <a:srgbClr val="1F4E5A"/>
                </a:solidFill>
                <a:latin typeface="Inter Display"/>
              </a:rPr>
              <a:t>Annual Members Generate 64.87% of 6.01M Total Rides</a:t>
            </a:r>
          </a:p>
        </p:txBody>
      </p:sp>
      <p:sp>
        <p:nvSpPr>
          <p:cNvPr id="7" name="Rounded Rectangle 6"/>
          <p:cNvSpPr/>
          <p:nvPr/>
        </p:nvSpPr>
        <p:spPr>
          <a:xfrm>
            <a:off x="731520" y="1645920"/>
            <a:ext cx="3337560" cy="822960"/>
          </a:xfrm>
          <a:prstGeom prst="roundRect">
            <a:avLst>
              <a:gd name="adj" fmla="val 6000"/>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dirty="0"/>
          </a:p>
        </p:txBody>
      </p:sp>
      <p:sp>
        <p:nvSpPr>
          <p:cNvPr id="8" name="TextBox 7"/>
          <p:cNvSpPr txBox="1"/>
          <p:nvPr/>
        </p:nvSpPr>
        <p:spPr>
          <a:xfrm>
            <a:off x="914400" y="1719072"/>
            <a:ext cx="2971800" cy="676656"/>
          </a:xfrm>
          <a:prstGeom prst="rect">
            <a:avLst/>
          </a:prstGeom>
          <a:noFill/>
        </p:spPr>
        <p:txBody>
          <a:bodyPr wrap="square" lIns="0" tIns="0" rIns="0" bIns="0" anchor="t">
            <a:spAutoFit/>
          </a:bodyPr>
          <a:lstStyle/>
          <a:p>
            <a:pPr algn="l">
              <a:spcAft>
                <a:spcPts val="200"/>
              </a:spcAft>
            </a:pPr>
            <a:r>
              <a:rPr sz="2200" b="1">
                <a:solidFill>
                  <a:srgbClr val="E4F05A"/>
                </a:solidFill>
                <a:latin typeface="Inter Display"/>
              </a:rPr>
              <a:t>6.01M  </a:t>
            </a:r>
          </a:p>
          <a:p>
            <a:pPr algn="l"/>
            <a:r>
              <a:rPr sz="1400" b="0">
                <a:solidFill>
                  <a:srgbClr val="FFFFFF"/>
                </a:solidFill>
                <a:latin typeface="Inter"/>
              </a:rPr>
              <a:t>Total Rides (3.90M Member)</a:t>
            </a:r>
          </a:p>
        </p:txBody>
      </p:sp>
      <p:sp>
        <p:nvSpPr>
          <p:cNvPr id="9" name="Rounded Rectangle 8"/>
          <p:cNvSpPr/>
          <p:nvPr/>
        </p:nvSpPr>
        <p:spPr>
          <a:xfrm>
            <a:off x="4411980" y="1645920"/>
            <a:ext cx="3337560" cy="822960"/>
          </a:xfrm>
          <a:prstGeom prst="roundRect">
            <a:avLst>
              <a:gd name="adj" fmla="val 6000"/>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4594860" y="1719072"/>
            <a:ext cx="2971800" cy="676656"/>
          </a:xfrm>
          <a:prstGeom prst="rect">
            <a:avLst/>
          </a:prstGeom>
          <a:noFill/>
        </p:spPr>
        <p:txBody>
          <a:bodyPr wrap="square" lIns="0" tIns="0" rIns="0" bIns="0" anchor="t">
            <a:spAutoFit/>
          </a:bodyPr>
          <a:lstStyle/>
          <a:p>
            <a:pPr algn="l">
              <a:spcAft>
                <a:spcPts val="200"/>
              </a:spcAft>
            </a:pPr>
            <a:r>
              <a:rPr sz="2200" b="1">
                <a:solidFill>
                  <a:srgbClr val="E4F05A"/>
                </a:solidFill>
                <a:latin typeface="Inter Display"/>
              </a:rPr>
              <a:t>64.87%  </a:t>
            </a:r>
          </a:p>
          <a:p>
            <a:pPr algn="l"/>
            <a:r>
              <a:rPr sz="1400" b="0">
                <a:solidFill>
                  <a:srgbClr val="FFFFFF"/>
                </a:solidFill>
                <a:latin typeface="Inter"/>
              </a:rPr>
              <a:t>Member Share (35.13% Casual)</a:t>
            </a:r>
          </a:p>
        </p:txBody>
      </p:sp>
      <p:sp>
        <p:nvSpPr>
          <p:cNvPr id="11" name="Rounded Rectangle 10"/>
          <p:cNvSpPr/>
          <p:nvPr/>
        </p:nvSpPr>
        <p:spPr>
          <a:xfrm>
            <a:off x="8092440" y="1645920"/>
            <a:ext cx="3337560" cy="822960"/>
          </a:xfrm>
          <a:prstGeom prst="roundRect">
            <a:avLst>
              <a:gd name="adj" fmla="val 6000"/>
            </a:avLst>
          </a:prstGeom>
          <a:solidFill>
            <a:srgbClr val="3B8E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8275320" y="1719072"/>
            <a:ext cx="2971800" cy="676656"/>
          </a:xfrm>
          <a:prstGeom prst="rect">
            <a:avLst/>
          </a:prstGeom>
          <a:noFill/>
        </p:spPr>
        <p:txBody>
          <a:bodyPr wrap="square" lIns="0" tIns="0" rIns="0" bIns="0" anchor="t">
            <a:spAutoFit/>
          </a:bodyPr>
          <a:lstStyle/>
          <a:p>
            <a:pPr algn="l">
              <a:spcAft>
                <a:spcPts val="200"/>
              </a:spcAft>
            </a:pPr>
            <a:r>
              <a:rPr sz="2200" b="1">
                <a:solidFill>
                  <a:srgbClr val="E4F05A"/>
                </a:solidFill>
                <a:latin typeface="Inter Display"/>
              </a:rPr>
              <a:t>70.39%  </a:t>
            </a:r>
          </a:p>
          <a:p>
            <a:pPr algn="l"/>
            <a:r>
              <a:rPr sz="1400" b="0">
                <a:solidFill>
                  <a:srgbClr val="FFFFFF"/>
                </a:solidFill>
                <a:latin typeface="Inter"/>
              </a:rPr>
              <a:t>Electric Share (4.23M Rides)</a:t>
            </a:r>
          </a:p>
        </p:txBody>
      </p:sp>
      <p:sp>
        <p:nvSpPr>
          <p:cNvPr id="13" name="Rectangle 12"/>
          <p:cNvSpPr/>
          <p:nvPr/>
        </p:nvSpPr>
        <p:spPr>
          <a:xfrm>
            <a:off x="0" y="6236208"/>
            <a:ext cx="12191695" cy="621792"/>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31520" y="6364224"/>
            <a:ext cx="10698480" cy="384048"/>
          </a:xfrm>
          <a:prstGeom prst="rect">
            <a:avLst/>
          </a:prstGeom>
          <a:noFill/>
        </p:spPr>
        <p:txBody>
          <a:bodyPr wrap="square" lIns="0" tIns="0" rIns="0" bIns="0" anchor="t">
            <a:spAutoFit/>
          </a:bodyPr>
          <a:lstStyle/>
          <a:p>
            <a:pPr algn="l"/>
            <a:r>
              <a:rPr sz="1500" b="1" dirty="0">
                <a:solidFill>
                  <a:srgbClr val="E4F05A"/>
                </a:solidFill>
                <a:latin typeface="Inter"/>
              </a:rPr>
              <a:t>So what? </a:t>
            </a:r>
            <a:r>
              <a:rPr sz="1500" b="0" dirty="0">
                <a:solidFill>
                  <a:srgbClr val="F8FAFC"/>
                </a:solidFill>
                <a:latin typeface="Inter"/>
              </a:rPr>
              <a:t>2.11M casual trips (35.13%) represent a large, active audience for annual membership conversion.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Box 3"/>
          <p:cNvSpPr txBox="1"/>
          <p:nvPr/>
        </p:nvSpPr>
        <p:spPr>
          <a:xfrm>
            <a:off x="731520" y="329184"/>
            <a:ext cx="10698480" cy="1280160"/>
          </a:xfrm>
          <a:prstGeom prst="rect">
            <a:avLst/>
          </a:prstGeom>
          <a:noFill/>
        </p:spPr>
        <p:txBody>
          <a:bodyPr wrap="square" lIns="0" tIns="0" rIns="0" bIns="0" anchor="t">
            <a:spAutoFit/>
          </a:bodyPr>
          <a:lstStyle/>
          <a:p>
            <a:pPr algn="l">
              <a:spcAft>
                <a:spcPts val="400"/>
              </a:spcAft>
            </a:pPr>
            <a:r>
              <a:rPr sz="1400" b="1" dirty="0">
                <a:solidFill>
                  <a:srgbClr val="3B8E9E"/>
                </a:solidFill>
                <a:latin typeface="Inter"/>
              </a:rPr>
              <a:t>WEEKLY DEMAND PATTERN</a:t>
            </a:r>
          </a:p>
          <a:p>
            <a:pPr algn="l"/>
            <a:r>
              <a:rPr sz="3000" b="1" dirty="0">
                <a:solidFill>
                  <a:srgbClr val="1F4E5A"/>
                </a:solidFill>
                <a:latin typeface="Inter Display"/>
              </a:rPr>
              <a:t>Members Ride 2x More Mon-Thu; Casuals Peak on Saturday</a:t>
            </a:r>
          </a:p>
        </p:txBody>
      </p:sp>
      <p:sp>
        <p:nvSpPr>
          <p:cNvPr id="7" name="TextBox 6"/>
          <p:cNvSpPr txBox="1"/>
          <p:nvPr/>
        </p:nvSpPr>
        <p:spPr>
          <a:xfrm>
            <a:off x="7187394" y="1508760"/>
            <a:ext cx="3749039" cy="3840480"/>
          </a:xfrm>
          <a:prstGeom prst="rect">
            <a:avLst/>
          </a:prstGeom>
          <a:noFill/>
        </p:spPr>
        <p:txBody>
          <a:bodyPr wrap="square" lIns="0" tIns="0" rIns="0" bIns="0" anchor="t">
            <a:spAutoFit/>
          </a:bodyPr>
          <a:lstStyle/>
          <a:p>
            <a:pPr>
              <a:spcAft>
                <a:spcPts val="1400"/>
              </a:spcAft>
            </a:pPr>
            <a:r>
              <a:rPr sz="2200" b="1" dirty="0">
                <a:solidFill>
                  <a:srgbClr val="3B8E9E"/>
                </a:solidFill>
                <a:latin typeface="Inter Display"/>
              </a:rPr>
              <a:t>0.45M Saturday Casual Peak</a:t>
            </a:r>
          </a:p>
          <a:p>
            <a:pPr marL="219456" indent="-219456">
              <a:spcAft>
                <a:spcPts val="1600"/>
              </a:spcAft>
              <a:buFont typeface="Inter"/>
              <a:buChar char="•"/>
            </a:pPr>
            <a:r>
              <a:rPr sz="1700" b="1" dirty="0">
                <a:solidFill>
                  <a:srgbClr val="1F4E5A"/>
                </a:solidFill>
                <a:latin typeface="Inter"/>
              </a:rPr>
              <a:t>Weekday Gap: </a:t>
            </a:r>
            <a:r>
              <a:rPr sz="1600" b="0" dirty="0">
                <a:solidFill>
                  <a:srgbClr val="132A32"/>
                </a:solidFill>
                <a:latin typeface="Inter"/>
              </a:rPr>
              <a:t>Members ride ~2x more Mon-Thu (0.55M-0.64M vs. 0.25M-0.27M), narrowing Friday.</a:t>
            </a:r>
          </a:p>
          <a:p>
            <a:pPr marL="219456" indent="-219456">
              <a:spcAft>
                <a:spcPts val="1600"/>
              </a:spcAft>
              <a:buFont typeface="Inter"/>
              <a:buChar char="•"/>
            </a:pPr>
            <a:r>
              <a:rPr sz="1700" b="1" dirty="0">
                <a:solidFill>
                  <a:srgbClr val="1F4E5A"/>
                </a:solidFill>
                <a:latin typeface="Inter"/>
              </a:rPr>
              <a:t>Weekend Surge: </a:t>
            </a:r>
            <a:r>
              <a:rPr sz="1600" b="0" dirty="0">
                <a:solidFill>
                  <a:srgbClr val="132A32"/>
                </a:solidFill>
                <a:latin typeface="Inter"/>
              </a:rPr>
              <a:t>Casual rides climb on weekends and peak Saturday (0.45M), nearly matching members (0.50M).</a:t>
            </a:r>
          </a:p>
        </p:txBody>
      </p:sp>
      <p:sp>
        <p:nvSpPr>
          <p:cNvPr id="8" name="Rectangle 7"/>
          <p:cNvSpPr/>
          <p:nvPr/>
        </p:nvSpPr>
        <p:spPr>
          <a:xfrm>
            <a:off x="0" y="6236208"/>
            <a:ext cx="12191695" cy="621792"/>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31520" y="6364224"/>
            <a:ext cx="10698480" cy="230832"/>
          </a:xfrm>
          <a:prstGeom prst="rect">
            <a:avLst/>
          </a:prstGeom>
          <a:noFill/>
        </p:spPr>
        <p:txBody>
          <a:bodyPr wrap="square" lIns="0" tIns="0" rIns="0" bIns="0" anchor="t">
            <a:spAutoFit/>
          </a:bodyPr>
          <a:lstStyle/>
          <a:p>
            <a:pPr algn="l"/>
            <a:r>
              <a:rPr sz="1500" b="1" dirty="0">
                <a:solidFill>
                  <a:srgbClr val="E4F05A"/>
                </a:solidFill>
                <a:latin typeface="Inter"/>
              </a:rPr>
              <a:t>S</a:t>
            </a:r>
            <a:r>
              <a:rPr lang="en-US" sz="1500" b="1" dirty="0">
                <a:solidFill>
                  <a:srgbClr val="E4F05A"/>
                </a:solidFill>
                <a:latin typeface="Inter"/>
              </a:rPr>
              <a:t>trategy:</a:t>
            </a:r>
            <a:r>
              <a:rPr sz="1500" b="1" dirty="0">
                <a:solidFill>
                  <a:srgbClr val="E4F05A"/>
                </a:solidFill>
                <a:latin typeface="Inter"/>
              </a:rPr>
              <a:t> </a:t>
            </a:r>
            <a:r>
              <a:rPr sz="1500" b="0" dirty="0">
                <a:solidFill>
                  <a:srgbClr val="F8FAFC"/>
                </a:solidFill>
                <a:latin typeface="Inter"/>
              </a:rPr>
              <a:t>Target casual riders with weekend membership offers when Saturday demand peaks.</a:t>
            </a:r>
          </a:p>
        </p:txBody>
      </p:sp>
      <p:pic>
        <p:nvPicPr>
          <p:cNvPr id="13" name="Picture 12">
            <a:extLst>
              <a:ext uri="{FF2B5EF4-FFF2-40B4-BE49-F238E27FC236}">
                <a16:creationId xmlns:a16="http://schemas.microsoft.com/office/drawing/2014/main" id="{233F8430-C158-2789-1A2A-D7F06A838427}"/>
              </a:ext>
            </a:extLst>
          </p:cNvPr>
          <p:cNvPicPr>
            <a:picLocks noChangeAspect="1"/>
          </p:cNvPicPr>
          <p:nvPr/>
        </p:nvPicPr>
        <p:blipFill>
          <a:blip r:embed="rId3"/>
          <a:srcRect r="48959" b="1511"/>
          <a:stretch>
            <a:fillRect/>
          </a:stretch>
        </p:blipFill>
        <p:spPr>
          <a:xfrm>
            <a:off x="668934" y="1460885"/>
            <a:ext cx="5808648" cy="40180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Box 3"/>
          <p:cNvSpPr txBox="1"/>
          <p:nvPr/>
        </p:nvSpPr>
        <p:spPr>
          <a:xfrm>
            <a:off x="731520" y="329184"/>
            <a:ext cx="10698480" cy="1280160"/>
          </a:xfrm>
          <a:prstGeom prst="rect">
            <a:avLst/>
          </a:prstGeom>
          <a:noFill/>
        </p:spPr>
        <p:txBody>
          <a:bodyPr wrap="square" lIns="0" tIns="0" rIns="0" bIns="0" anchor="t">
            <a:spAutoFit/>
          </a:bodyPr>
          <a:lstStyle/>
          <a:p>
            <a:pPr algn="l">
              <a:spcAft>
                <a:spcPts val="400"/>
              </a:spcAft>
            </a:pPr>
            <a:r>
              <a:rPr sz="1400" b="1" dirty="0">
                <a:solidFill>
                  <a:srgbClr val="3B8E9E"/>
                </a:solidFill>
                <a:latin typeface="Inter"/>
              </a:rPr>
              <a:t>AVERAGE RIDE DURATION</a:t>
            </a:r>
          </a:p>
          <a:p>
            <a:pPr algn="l"/>
            <a:r>
              <a:rPr sz="3000" b="1" dirty="0">
                <a:solidFill>
                  <a:srgbClr val="1F4E5A"/>
                </a:solidFill>
                <a:latin typeface="Inter Display"/>
              </a:rPr>
              <a:t>Casual Riders Take Longer Rides in Time, Especially Weekends</a:t>
            </a:r>
          </a:p>
        </p:txBody>
      </p:sp>
      <p:sp>
        <p:nvSpPr>
          <p:cNvPr id="7" name="TextBox 6"/>
          <p:cNvSpPr txBox="1"/>
          <p:nvPr/>
        </p:nvSpPr>
        <p:spPr>
          <a:xfrm>
            <a:off x="7680960" y="2103120"/>
            <a:ext cx="3749039" cy="2231380"/>
          </a:xfrm>
          <a:prstGeom prst="rect">
            <a:avLst/>
          </a:prstGeom>
          <a:noFill/>
        </p:spPr>
        <p:txBody>
          <a:bodyPr wrap="square" lIns="0" tIns="0" rIns="0" bIns="0" anchor="t">
            <a:spAutoFit/>
          </a:bodyPr>
          <a:lstStyle/>
          <a:p>
            <a:pPr>
              <a:spcAft>
                <a:spcPts val="1400"/>
              </a:spcAft>
            </a:pPr>
            <a:r>
              <a:rPr sz="2200" b="1" dirty="0">
                <a:solidFill>
                  <a:srgbClr val="3B8E9E"/>
                </a:solidFill>
                <a:latin typeface="Inter Display"/>
              </a:rPr>
              <a:t>20-21 Min</a:t>
            </a:r>
            <a:r>
              <a:rPr lang="en-US" sz="2200" b="1" dirty="0">
                <a:solidFill>
                  <a:srgbClr val="3B8E9E"/>
                </a:solidFill>
                <a:latin typeface="Inter Display"/>
              </a:rPr>
              <a:t>utes</a:t>
            </a:r>
            <a:r>
              <a:rPr sz="2200" b="1" dirty="0">
                <a:solidFill>
                  <a:srgbClr val="3B8E9E"/>
                </a:solidFill>
                <a:latin typeface="Inter Display"/>
              </a:rPr>
              <a:t> Weekend Rides</a:t>
            </a:r>
          </a:p>
          <a:p>
            <a:pPr marL="219456" indent="-219456">
              <a:spcAft>
                <a:spcPts val="1600"/>
              </a:spcAft>
              <a:buFont typeface="Inter"/>
              <a:buChar char="•"/>
            </a:pPr>
            <a:r>
              <a:rPr sz="1700" b="1" dirty="0">
                <a:solidFill>
                  <a:srgbClr val="1F4E5A"/>
                </a:solidFill>
                <a:latin typeface="Inter"/>
              </a:rPr>
              <a:t>Longer Rides in Time: </a:t>
            </a:r>
            <a:r>
              <a:rPr sz="1600" b="0" dirty="0">
                <a:solidFill>
                  <a:srgbClr val="132A32"/>
                </a:solidFill>
                <a:latin typeface="Inter"/>
              </a:rPr>
              <a:t>Casuals average 15-18 min weekdays and 20-21 min Sat/Sun vs. 11.5-13 min for members (time, not distance).</a:t>
            </a:r>
          </a:p>
          <a:p>
            <a:pPr marL="219456" indent="-219456">
              <a:spcAft>
                <a:spcPts val="1600"/>
              </a:spcAft>
              <a:buFont typeface="Inter"/>
              <a:buChar char="•"/>
            </a:pPr>
            <a:r>
              <a:rPr sz="1700" b="1" dirty="0">
                <a:solidFill>
                  <a:srgbClr val="1F4E5A"/>
                </a:solidFill>
                <a:latin typeface="Inter"/>
              </a:rPr>
              <a:t>Interpretation: </a:t>
            </a:r>
            <a:r>
              <a:rPr sz="1600" b="0" dirty="0">
                <a:solidFill>
                  <a:srgbClr val="132A32"/>
                </a:solidFill>
                <a:latin typeface="Inter"/>
              </a:rPr>
              <a:t>Leisure and exploring vs. routine member trips.</a:t>
            </a:r>
          </a:p>
        </p:txBody>
      </p:sp>
      <p:sp>
        <p:nvSpPr>
          <p:cNvPr id="8" name="Rectangle 7"/>
          <p:cNvSpPr/>
          <p:nvPr/>
        </p:nvSpPr>
        <p:spPr>
          <a:xfrm>
            <a:off x="0" y="6236208"/>
            <a:ext cx="12191695" cy="621792"/>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31520" y="6364224"/>
            <a:ext cx="10698480" cy="384048"/>
          </a:xfrm>
          <a:prstGeom prst="rect">
            <a:avLst/>
          </a:prstGeom>
          <a:noFill/>
        </p:spPr>
        <p:txBody>
          <a:bodyPr wrap="square" lIns="0" tIns="0" rIns="0" bIns="0" anchor="t">
            <a:spAutoFit/>
          </a:bodyPr>
          <a:lstStyle/>
          <a:p>
            <a:pPr algn="l"/>
            <a:r>
              <a:rPr sz="1500" b="1">
                <a:solidFill>
                  <a:srgbClr val="E4F05A"/>
                </a:solidFill>
                <a:latin typeface="Inter"/>
              </a:rPr>
              <a:t>So what? </a:t>
            </a:r>
            <a:r>
              <a:rPr sz="1500" b="0">
                <a:solidFill>
                  <a:srgbClr val="F8FAFC"/>
                </a:solidFill>
                <a:latin typeface="Inter"/>
              </a:rPr>
              <a:t>Show casual riders how membership lowers per-minute costs on longer weekend rides.</a:t>
            </a:r>
          </a:p>
        </p:txBody>
      </p:sp>
      <p:pic>
        <p:nvPicPr>
          <p:cNvPr id="11" name="Picture 10">
            <a:extLst>
              <a:ext uri="{FF2B5EF4-FFF2-40B4-BE49-F238E27FC236}">
                <a16:creationId xmlns:a16="http://schemas.microsoft.com/office/drawing/2014/main" id="{FF097BDB-4417-0864-282F-499E25D579C3}"/>
              </a:ext>
            </a:extLst>
          </p:cNvPr>
          <p:cNvPicPr>
            <a:picLocks noChangeAspect="1"/>
          </p:cNvPicPr>
          <p:nvPr/>
        </p:nvPicPr>
        <p:blipFill>
          <a:blip r:embed="rId3"/>
          <a:srcRect l="50668"/>
          <a:stretch>
            <a:fillRect/>
          </a:stretch>
        </p:blipFill>
        <p:spPr>
          <a:xfrm>
            <a:off x="762000" y="1424275"/>
            <a:ext cx="6014565" cy="40094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Box 3"/>
          <p:cNvSpPr txBox="1"/>
          <p:nvPr/>
        </p:nvSpPr>
        <p:spPr>
          <a:xfrm>
            <a:off x="731520" y="329184"/>
            <a:ext cx="10698480" cy="1280160"/>
          </a:xfrm>
          <a:prstGeom prst="rect">
            <a:avLst/>
          </a:prstGeom>
          <a:noFill/>
        </p:spPr>
        <p:txBody>
          <a:bodyPr wrap="square" lIns="0" tIns="0" rIns="0" bIns="0" anchor="t">
            <a:spAutoFit/>
          </a:bodyPr>
          <a:lstStyle/>
          <a:p>
            <a:pPr algn="l">
              <a:spcAft>
                <a:spcPts val="400"/>
              </a:spcAft>
            </a:pPr>
            <a:r>
              <a:rPr sz="1400" b="1">
                <a:solidFill>
                  <a:srgbClr val="3B8E9E"/>
                </a:solidFill>
                <a:latin typeface="Inter"/>
              </a:rPr>
              <a:t>HOURLY DEMAND PATTERN (24-HOUR CLOCK)</a:t>
            </a:r>
          </a:p>
          <a:p>
            <a:pPr algn="l"/>
            <a:r>
              <a:rPr sz="3000" b="1">
                <a:solidFill>
                  <a:srgbClr val="1F4E5A"/>
                </a:solidFill>
                <a:latin typeface="Inter Display"/>
              </a:rPr>
              <a:t>Members Peak at Commute Hours; Casuals Ramp Steadily to 5 PM</a:t>
            </a:r>
          </a:p>
        </p:txBody>
      </p:sp>
      <p:sp>
        <p:nvSpPr>
          <p:cNvPr id="7" name="TextBox 6"/>
          <p:cNvSpPr txBox="1"/>
          <p:nvPr/>
        </p:nvSpPr>
        <p:spPr>
          <a:xfrm>
            <a:off x="8061808" y="1591469"/>
            <a:ext cx="3749039" cy="3840480"/>
          </a:xfrm>
          <a:prstGeom prst="rect">
            <a:avLst/>
          </a:prstGeom>
          <a:noFill/>
        </p:spPr>
        <p:txBody>
          <a:bodyPr wrap="square" lIns="0" tIns="0" rIns="0" bIns="0" anchor="t">
            <a:spAutoFit/>
          </a:bodyPr>
          <a:lstStyle/>
          <a:p>
            <a:pPr>
              <a:spcAft>
                <a:spcPts val="1400"/>
              </a:spcAft>
            </a:pPr>
            <a:r>
              <a:rPr sz="2200" b="1" dirty="0">
                <a:solidFill>
                  <a:srgbClr val="3B8E9E"/>
                </a:solidFill>
                <a:latin typeface="Inter Display"/>
              </a:rPr>
              <a:t>Likely Usage Explanations</a:t>
            </a:r>
          </a:p>
          <a:p>
            <a:pPr marL="219456" indent="-219456">
              <a:spcAft>
                <a:spcPts val="1400"/>
              </a:spcAft>
              <a:buFont typeface="Inter"/>
              <a:buChar char="•"/>
            </a:pPr>
            <a:r>
              <a:rPr sz="1700" b="1" dirty="0">
                <a:solidFill>
                  <a:srgbClr val="1F4E5A"/>
                </a:solidFill>
                <a:latin typeface="Inter"/>
              </a:rPr>
              <a:t>Member Peaks: </a:t>
            </a:r>
            <a:r>
              <a:rPr sz="1500" b="0" dirty="0">
                <a:solidFill>
                  <a:srgbClr val="132A32"/>
                </a:solidFill>
                <a:latin typeface="Inter"/>
              </a:rPr>
              <a:t>8 AM (0.29M) and 5 PM (0.42M) peaks with a 0.2M midday plateau suggest commuting.</a:t>
            </a:r>
          </a:p>
          <a:p>
            <a:pPr marL="219456" indent="-219456">
              <a:spcAft>
                <a:spcPts val="1400"/>
              </a:spcAft>
              <a:buFont typeface="Inter"/>
              <a:buChar char="•"/>
            </a:pPr>
            <a:r>
              <a:rPr sz="1700" b="1" dirty="0">
                <a:solidFill>
                  <a:srgbClr val="1F4E5A"/>
                </a:solidFill>
                <a:latin typeface="Inter"/>
              </a:rPr>
              <a:t>Casual Ramp: </a:t>
            </a:r>
            <a:r>
              <a:rPr sz="1500" b="0" dirty="0">
                <a:solidFill>
                  <a:srgbClr val="132A32"/>
                </a:solidFill>
                <a:latin typeface="Inter"/>
              </a:rPr>
              <a:t>Rises from 5 AM to a 5 PM peak (0.2M) and exceeds members 12-3 AM, suggesting leisure (likely explanations, not proven facts).</a:t>
            </a:r>
          </a:p>
        </p:txBody>
      </p:sp>
      <p:sp>
        <p:nvSpPr>
          <p:cNvPr id="8" name="Rectangle 7"/>
          <p:cNvSpPr/>
          <p:nvPr/>
        </p:nvSpPr>
        <p:spPr>
          <a:xfrm>
            <a:off x="0" y="6236208"/>
            <a:ext cx="12191695" cy="621792"/>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31520" y="6364224"/>
            <a:ext cx="10698480" cy="384048"/>
          </a:xfrm>
          <a:prstGeom prst="rect">
            <a:avLst/>
          </a:prstGeom>
          <a:noFill/>
        </p:spPr>
        <p:txBody>
          <a:bodyPr wrap="square" lIns="0" tIns="0" rIns="0" bIns="0" anchor="t">
            <a:spAutoFit/>
          </a:bodyPr>
          <a:lstStyle/>
          <a:p>
            <a:pPr algn="l"/>
            <a:r>
              <a:rPr sz="1500" b="1">
                <a:solidFill>
                  <a:srgbClr val="E4F05A"/>
                </a:solidFill>
                <a:latin typeface="Inter"/>
              </a:rPr>
              <a:t>So what? </a:t>
            </a:r>
            <a:r>
              <a:rPr sz="1500" b="0">
                <a:solidFill>
                  <a:srgbClr val="F8FAFC"/>
                </a:solidFill>
                <a:latin typeface="Inter"/>
              </a:rPr>
              <a:t>Time digital ads and station promos for midday through the 5 PM casual peak.</a:t>
            </a:r>
          </a:p>
        </p:txBody>
      </p:sp>
      <p:pic>
        <p:nvPicPr>
          <p:cNvPr id="11" name="Picture 10">
            <a:extLst>
              <a:ext uri="{FF2B5EF4-FFF2-40B4-BE49-F238E27FC236}">
                <a16:creationId xmlns:a16="http://schemas.microsoft.com/office/drawing/2014/main" id="{8A761340-9052-6D8F-CAF7-21A02FF0EFE0}"/>
              </a:ext>
            </a:extLst>
          </p:cNvPr>
          <p:cNvPicPr>
            <a:picLocks noChangeAspect="1"/>
          </p:cNvPicPr>
          <p:nvPr/>
        </p:nvPicPr>
        <p:blipFill>
          <a:blip r:embed="rId3"/>
          <a:stretch>
            <a:fillRect/>
          </a:stretch>
        </p:blipFill>
        <p:spPr>
          <a:xfrm>
            <a:off x="80762" y="1591469"/>
            <a:ext cx="7600198" cy="35841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Box 3"/>
          <p:cNvSpPr txBox="1"/>
          <p:nvPr/>
        </p:nvSpPr>
        <p:spPr>
          <a:xfrm>
            <a:off x="731520" y="329184"/>
            <a:ext cx="10698480" cy="1280160"/>
          </a:xfrm>
          <a:prstGeom prst="rect">
            <a:avLst/>
          </a:prstGeom>
          <a:noFill/>
        </p:spPr>
        <p:txBody>
          <a:bodyPr wrap="square" lIns="0" tIns="0" rIns="0" bIns="0" anchor="t">
            <a:spAutoFit/>
          </a:bodyPr>
          <a:lstStyle/>
          <a:p>
            <a:pPr algn="l">
              <a:spcAft>
                <a:spcPts val="400"/>
              </a:spcAft>
            </a:pPr>
            <a:r>
              <a:rPr sz="1400" b="1">
                <a:solidFill>
                  <a:srgbClr val="3B8E9E"/>
                </a:solidFill>
                <a:latin typeface="Inter"/>
              </a:rPr>
              <a:t>BIKE TYPE PREFERENCE</a:t>
            </a:r>
          </a:p>
          <a:p>
            <a:pPr algn="l"/>
            <a:r>
              <a:rPr sz="3000" b="1">
                <a:solidFill>
                  <a:srgbClr val="1F4E5A"/>
                </a:solidFill>
                <a:latin typeface="Inter Display"/>
              </a:rPr>
              <a:t>Electric Bikes Account for 70.39% of All Cyclistic Rides</a:t>
            </a:r>
          </a:p>
        </p:txBody>
      </p:sp>
      <p:sp>
        <p:nvSpPr>
          <p:cNvPr id="7" name="TextBox 6"/>
          <p:cNvSpPr txBox="1"/>
          <p:nvPr/>
        </p:nvSpPr>
        <p:spPr>
          <a:xfrm>
            <a:off x="7680960" y="2103120"/>
            <a:ext cx="3749039" cy="3840480"/>
          </a:xfrm>
          <a:prstGeom prst="rect">
            <a:avLst/>
          </a:prstGeom>
          <a:noFill/>
        </p:spPr>
        <p:txBody>
          <a:bodyPr wrap="square" lIns="0" tIns="0" rIns="0" bIns="0" anchor="t">
            <a:spAutoFit/>
          </a:bodyPr>
          <a:lstStyle/>
          <a:p>
            <a:pPr>
              <a:spcAft>
                <a:spcPts val="1400"/>
              </a:spcAft>
            </a:pPr>
            <a:r>
              <a:rPr sz="2200" b="1" dirty="0">
                <a:solidFill>
                  <a:srgbClr val="3B8E9E"/>
                </a:solidFill>
                <a:latin typeface="Inter Display"/>
              </a:rPr>
              <a:t>4.23M Electric Rides (70.39%)</a:t>
            </a:r>
          </a:p>
          <a:p>
            <a:pPr marL="219456" indent="-219456">
              <a:spcAft>
                <a:spcPts val="1600"/>
              </a:spcAft>
              <a:buFont typeface="Inter"/>
              <a:buChar char="•"/>
            </a:pPr>
            <a:r>
              <a:rPr sz="1700" b="1" dirty="0">
                <a:solidFill>
                  <a:srgbClr val="1F4E5A"/>
                </a:solidFill>
                <a:latin typeface="Inter"/>
              </a:rPr>
              <a:t>Fleet Split: </a:t>
            </a:r>
            <a:r>
              <a:rPr sz="1600" b="0" dirty="0">
                <a:solidFill>
                  <a:srgbClr val="132A32"/>
                </a:solidFill>
                <a:latin typeface="Inter"/>
              </a:rPr>
              <a:t>Electric bikes drive 4.23M rides (70.39%) vs. 1.78M classic rides (29.61%).</a:t>
            </a:r>
          </a:p>
          <a:p>
            <a:pPr marL="219456" indent="-219456">
              <a:spcAft>
                <a:spcPts val="1600"/>
              </a:spcAft>
              <a:buFont typeface="Inter"/>
              <a:buChar char="•"/>
            </a:pPr>
            <a:r>
              <a:rPr sz="1700" b="1" dirty="0">
                <a:solidFill>
                  <a:srgbClr val="1F4E5A"/>
                </a:solidFill>
                <a:latin typeface="Inter"/>
              </a:rPr>
              <a:t>Selling Point: </a:t>
            </a:r>
            <a:r>
              <a:rPr sz="1600" b="0" dirty="0">
                <a:solidFill>
                  <a:srgbClr val="132A32"/>
                </a:solidFill>
                <a:latin typeface="Inter"/>
              </a:rPr>
              <a:t>E-bikes are popular with everyone, making electric perks a strong membership hook.</a:t>
            </a:r>
          </a:p>
        </p:txBody>
      </p:sp>
      <p:sp>
        <p:nvSpPr>
          <p:cNvPr id="8" name="Rectangle 7"/>
          <p:cNvSpPr/>
          <p:nvPr/>
        </p:nvSpPr>
        <p:spPr>
          <a:xfrm>
            <a:off x="0" y="6236208"/>
            <a:ext cx="12191695" cy="621792"/>
          </a:xfrm>
          <a:prstGeom prst="rect">
            <a:avLst/>
          </a:prstGeom>
          <a:solidFill>
            <a:srgbClr val="1F4E5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31520" y="6364224"/>
            <a:ext cx="10698480" cy="384048"/>
          </a:xfrm>
          <a:prstGeom prst="rect">
            <a:avLst/>
          </a:prstGeom>
          <a:noFill/>
        </p:spPr>
        <p:txBody>
          <a:bodyPr wrap="square" lIns="0" tIns="0" rIns="0" bIns="0" anchor="t">
            <a:spAutoFit/>
          </a:bodyPr>
          <a:lstStyle/>
          <a:p>
            <a:pPr algn="l"/>
            <a:r>
              <a:rPr sz="1500" b="1">
                <a:solidFill>
                  <a:srgbClr val="E4F05A"/>
                </a:solidFill>
                <a:latin typeface="Inter"/>
              </a:rPr>
              <a:t>So what? </a:t>
            </a:r>
            <a:r>
              <a:rPr sz="1500" b="0">
                <a:solidFill>
                  <a:srgbClr val="F8FAFC"/>
                </a:solidFill>
                <a:latin typeface="Inter"/>
              </a:rPr>
              <a:t>Feature discounted e-bike unlocks as a headline annual membership benefit.</a:t>
            </a:r>
          </a:p>
        </p:txBody>
      </p:sp>
      <p:pic>
        <p:nvPicPr>
          <p:cNvPr id="11" name="Picture 10">
            <a:extLst>
              <a:ext uri="{FF2B5EF4-FFF2-40B4-BE49-F238E27FC236}">
                <a16:creationId xmlns:a16="http://schemas.microsoft.com/office/drawing/2014/main" id="{C598D06A-5781-ECC4-65DA-4F420B6ECE39}"/>
              </a:ext>
            </a:extLst>
          </p:cNvPr>
          <p:cNvPicPr>
            <a:picLocks noChangeAspect="1"/>
          </p:cNvPicPr>
          <p:nvPr/>
        </p:nvPicPr>
        <p:blipFill>
          <a:blip r:embed="rId3"/>
          <a:stretch>
            <a:fillRect/>
          </a:stretch>
        </p:blipFill>
        <p:spPr>
          <a:xfrm>
            <a:off x="228593" y="1307377"/>
            <a:ext cx="7223774" cy="44805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1F4E5A"/>
          </a:solidFill>
          <a:ln>
            <a:noFill/>
          </a:ln>
          <a:effectLst/>
        </p:spPr>
        <p:txBody>
          <a:bodyPr rtlCol="0" anchor="ctr"/>
          <a:lstStyle/>
          <a:p>
            <a:pPr algn="ctr"/>
            <a:endParaRPr lang="en-US"/>
          </a:p>
        </p:txBody>
      </p:sp>
      <p:sp>
        <p:nvSpPr>
          <p:cNvPr id="3" name="Top strip"/>
          <p:cNvSpPr/>
          <p:nvPr/>
        </p:nvSpPr>
        <p:spPr>
          <a:xfrm>
            <a:off x="0" y="0"/>
            <a:ext cx="12191695" cy="128016"/>
          </a:xfrm>
          <a:prstGeom prst="rect">
            <a:avLst/>
          </a:prstGeom>
          <a:solidFill>
            <a:srgbClr val="E4F05A"/>
          </a:solidFill>
          <a:ln>
            <a:noFill/>
          </a:ln>
          <a:effectLst/>
        </p:spPr>
        <p:txBody>
          <a:bodyPr rtlCol="0" anchor="ctr"/>
          <a:lstStyle/>
          <a:p>
            <a:pPr algn="ctr"/>
            <a:endParaRPr lang="en-US"/>
          </a:p>
        </p:txBody>
      </p:sp>
      <p:sp>
        <p:nvSpPr>
          <p:cNvPr id="4" name="Title"/>
          <p:cNvSpPr txBox="1"/>
          <p:nvPr/>
        </p:nvSpPr>
        <p:spPr>
          <a:xfrm>
            <a:off x="731520" y="400000"/>
            <a:ext cx="10698480" cy="560000"/>
          </a:xfrm>
          <a:prstGeom prst="rect">
            <a:avLst/>
          </a:prstGeom>
          <a:noFill/>
        </p:spPr>
        <p:txBody>
          <a:bodyPr wrap="square" lIns="0" tIns="0" rIns="0" bIns="0" anchor="t">
            <a:noAutofit/>
          </a:bodyPr>
          <a:lstStyle/>
          <a:p>
            <a:pPr algn="l"/>
            <a:r>
              <a:rPr lang="en-US" sz="3200" b="1">
                <a:solidFill>
                  <a:srgbClr val="E4F05A"/>
                </a:solidFill>
                <a:latin typeface="Inter Display"/>
              </a:rPr>
              <a:t>Three Actions to Convert Casual Riders</a:t>
            </a:r>
          </a:p>
        </p:txBody>
      </p:sp>
      <p:sp>
        <p:nvSpPr>
          <p:cNvPr id="5" name="Subtitle"/>
          <p:cNvSpPr txBox="1"/>
          <p:nvPr/>
        </p:nvSpPr>
        <p:spPr>
          <a:xfrm>
            <a:off x="731520" y="1010000"/>
            <a:ext cx="10698480" cy="320000"/>
          </a:xfrm>
          <a:prstGeom prst="rect">
            <a:avLst/>
          </a:prstGeom>
          <a:noFill/>
        </p:spPr>
        <p:txBody>
          <a:bodyPr wrap="square" lIns="0" tIns="0" rIns="0" bIns="0" anchor="t">
            <a:noAutofit/>
          </a:bodyPr>
          <a:lstStyle/>
          <a:p>
            <a:pPr algn="l"/>
            <a:r>
              <a:rPr lang="en-US" sz="1400" b="0">
                <a:solidFill>
                  <a:srgbClr val="EAF3F5"/>
                </a:solidFill>
                <a:latin typeface="Inter"/>
              </a:rPr>
              <a:t>Turning casual riders into annual members: each action is tied to the data and has a metric to track.</a:t>
            </a:r>
          </a:p>
        </p:txBody>
      </p:sp>
      <p:sp>
        <p:nvSpPr>
          <p:cNvPr id="6" name="Card 1"/>
          <p:cNvSpPr/>
          <p:nvPr/>
        </p:nvSpPr>
        <p:spPr>
          <a:xfrm>
            <a:off x="731520" y="1554480"/>
            <a:ext cx="3393338" cy="4297680"/>
          </a:xfrm>
          <a:prstGeom prst="roundRect">
            <a:avLst>
              <a:gd name="adj" fmla="val 6000"/>
            </a:avLst>
          </a:prstGeom>
          <a:solidFill>
            <a:srgbClr val="163B45"/>
          </a:solidFill>
          <a:ln>
            <a:noFill/>
          </a:ln>
          <a:effectLst/>
        </p:spPr>
        <p:txBody>
          <a:bodyPr rtlCol="0" anchor="ctr"/>
          <a:lstStyle/>
          <a:p>
            <a:pPr algn="ctr"/>
            <a:endParaRPr lang="en-US"/>
          </a:p>
        </p:txBody>
      </p:sp>
      <p:sp>
        <p:nvSpPr>
          <p:cNvPr id="7" name="Number badge 1"/>
          <p:cNvSpPr/>
          <p:nvPr/>
        </p:nvSpPr>
        <p:spPr>
          <a:xfrm>
            <a:off x="932688" y="1737360"/>
            <a:ext cx="457200" cy="457200"/>
          </a:xfrm>
          <a:prstGeom prst="ellipse">
            <a:avLst/>
          </a:prstGeom>
          <a:solidFill>
            <a:srgbClr val="E4F05A"/>
          </a:solidFill>
          <a:ln>
            <a:noFill/>
          </a:ln>
          <a:effectLst/>
        </p:spPr>
        <p:txBody>
          <a:bodyPr rtlCol="0" anchor="ctr"/>
          <a:lstStyle/>
          <a:p>
            <a:pPr algn="ctr"/>
            <a:endParaRPr lang="en-US"/>
          </a:p>
        </p:txBody>
      </p:sp>
      <p:sp>
        <p:nvSpPr>
          <p:cNvPr id="8" name="Number 1"/>
          <p:cNvSpPr txBox="1"/>
          <p:nvPr/>
        </p:nvSpPr>
        <p:spPr>
          <a:xfrm>
            <a:off x="932688" y="1737360"/>
            <a:ext cx="457200" cy="457200"/>
          </a:xfrm>
          <a:prstGeom prst="rect">
            <a:avLst/>
          </a:prstGeom>
          <a:noFill/>
        </p:spPr>
        <p:txBody>
          <a:bodyPr wrap="square" lIns="0" tIns="0" rIns="0" bIns="0" anchor="ctr">
            <a:noAutofit/>
          </a:bodyPr>
          <a:lstStyle/>
          <a:p>
            <a:pPr algn="ctr"/>
            <a:r>
              <a:rPr lang="en-US" sz="2000" b="1">
                <a:solidFill>
                  <a:srgbClr val="1F4E5A"/>
                </a:solidFill>
                <a:latin typeface="Inter Display"/>
              </a:rPr>
              <a:t>1</a:t>
            </a:r>
          </a:p>
        </p:txBody>
      </p:sp>
      <p:sp>
        <p:nvSpPr>
          <p:cNvPr id="9" name="Headline 1"/>
          <p:cNvSpPr txBox="1"/>
          <p:nvPr/>
        </p:nvSpPr>
        <p:spPr>
          <a:xfrm>
            <a:off x="932688" y="2331720"/>
            <a:ext cx="2991002" cy="685800"/>
          </a:xfrm>
          <a:prstGeom prst="rect">
            <a:avLst/>
          </a:prstGeom>
          <a:noFill/>
        </p:spPr>
        <p:txBody>
          <a:bodyPr wrap="square" lIns="0" tIns="0" rIns="0" bIns="0" anchor="t">
            <a:noAutofit/>
          </a:bodyPr>
          <a:lstStyle/>
          <a:p>
            <a:pPr algn="l"/>
            <a:r>
              <a:rPr lang="en-US" sz="2000" b="1">
                <a:solidFill>
                  <a:srgbClr val="E4F05A"/>
                </a:solidFill>
                <a:latin typeface="Inter Display"/>
              </a:rPr>
              <a:t>Launch a Weekend Membership Offer</a:t>
            </a:r>
          </a:p>
        </p:txBody>
      </p:sp>
      <p:sp>
        <p:nvSpPr>
          <p:cNvPr id="10" name="Action 1"/>
          <p:cNvSpPr txBox="1"/>
          <p:nvPr/>
        </p:nvSpPr>
        <p:spPr>
          <a:xfrm>
            <a:off x="932688" y="3063240"/>
            <a:ext cx="2991002" cy="777240"/>
          </a:xfrm>
          <a:prstGeom prst="rect">
            <a:avLst/>
          </a:prstGeom>
          <a:noFill/>
        </p:spPr>
        <p:txBody>
          <a:bodyPr wrap="square" lIns="0" tIns="0" rIns="0" bIns="0" anchor="t">
            <a:noAutofit/>
          </a:bodyPr>
          <a:lstStyle/>
          <a:p>
            <a:pPr algn="l"/>
            <a:r>
              <a:rPr lang="en-US" sz="1400" b="0">
                <a:solidFill>
                  <a:srgbClr val="FFFFFF"/>
                </a:solidFill>
                <a:latin typeface="Inter"/>
              </a:rPr>
              <a:t>Promote a weekend or flexible plan to casual riders on the days they ride most.</a:t>
            </a:r>
          </a:p>
        </p:txBody>
      </p:sp>
      <p:sp>
        <p:nvSpPr>
          <p:cNvPr id="11" name="Why label 1"/>
          <p:cNvSpPr txBox="1"/>
          <p:nvPr/>
        </p:nvSpPr>
        <p:spPr>
          <a:xfrm>
            <a:off x="932688" y="3931920"/>
            <a:ext cx="2991002" cy="228600"/>
          </a:xfrm>
          <a:prstGeom prst="rect">
            <a:avLst/>
          </a:prstGeom>
          <a:noFill/>
        </p:spPr>
        <p:txBody>
          <a:bodyPr wrap="square" lIns="0" tIns="0" rIns="0" bIns="0" anchor="t">
            <a:noAutofit/>
          </a:bodyPr>
          <a:lstStyle/>
          <a:p>
            <a:pPr algn="l"/>
            <a:r>
              <a:rPr lang="en-US" sz="1200" b="1">
                <a:solidFill>
                  <a:srgbClr val="7FC4D1"/>
                </a:solidFill>
                <a:latin typeface="Inter"/>
              </a:rPr>
              <a:t>WHY (THE DATA)</a:t>
            </a:r>
          </a:p>
        </p:txBody>
      </p:sp>
      <p:sp>
        <p:nvSpPr>
          <p:cNvPr id="12" name="Why 1"/>
          <p:cNvSpPr txBox="1"/>
          <p:nvPr/>
        </p:nvSpPr>
        <p:spPr>
          <a:xfrm>
            <a:off x="932688" y="4178808"/>
            <a:ext cx="2991002" cy="777240"/>
          </a:xfrm>
          <a:prstGeom prst="rect">
            <a:avLst/>
          </a:prstGeom>
          <a:noFill/>
        </p:spPr>
        <p:txBody>
          <a:bodyPr wrap="square" lIns="0" tIns="0" rIns="0" bIns="0" anchor="t">
            <a:noAutofit/>
          </a:bodyPr>
          <a:lstStyle/>
          <a:p>
            <a:pPr algn="l"/>
            <a:r>
              <a:rPr lang="en-US" sz="1400" b="0">
                <a:solidFill>
                  <a:srgbClr val="FFFFFF"/>
                </a:solidFill>
                <a:latin typeface="Inter"/>
              </a:rPr>
              <a:t>Saturday casual rides peak at 0.45M, nearly matching members (0.50M).</a:t>
            </a:r>
          </a:p>
        </p:txBody>
      </p:sp>
      <p:sp>
        <p:nvSpPr>
          <p:cNvPr id="13" name="Track label 1"/>
          <p:cNvSpPr txBox="1"/>
          <p:nvPr/>
        </p:nvSpPr>
        <p:spPr>
          <a:xfrm>
            <a:off x="932688" y="4937760"/>
            <a:ext cx="2991002" cy="228600"/>
          </a:xfrm>
          <a:prstGeom prst="rect">
            <a:avLst/>
          </a:prstGeom>
          <a:noFill/>
        </p:spPr>
        <p:txBody>
          <a:bodyPr wrap="square" lIns="0" tIns="0" rIns="0" bIns="0" anchor="t">
            <a:noAutofit/>
          </a:bodyPr>
          <a:lstStyle/>
          <a:p>
            <a:pPr algn="l"/>
            <a:r>
              <a:rPr lang="en-US" sz="1200" b="1">
                <a:solidFill>
                  <a:srgbClr val="7FC4D1"/>
                </a:solidFill>
                <a:latin typeface="Inter"/>
              </a:rPr>
              <a:t>METRIC TO TRACK</a:t>
            </a:r>
          </a:p>
        </p:txBody>
      </p:sp>
      <p:sp>
        <p:nvSpPr>
          <p:cNvPr id="14" name="Track 1"/>
          <p:cNvSpPr txBox="1"/>
          <p:nvPr/>
        </p:nvSpPr>
        <p:spPr>
          <a:xfrm>
            <a:off x="932688" y="5184648"/>
            <a:ext cx="2991002" cy="457200"/>
          </a:xfrm>
          <a:prstGeom prst="rect">
            <a:avLst/>
          </a:prstGeom>
          <a:noFill/>
        </p:spPr>
        <p:txBody>
          <a:bodyPr wrap="square" lIns="0" tIns="0" rIns="0" bIns="0" anchor="t">
            <a:noAutofit/>
          </a:bodyPr>
          <a:lstStyle/>
          <a:p>
            <a:pPr algn="l"/>
            <a:r>
              <a:rPr lang="en-US" sz="1400" b="0">
                <a:solidFill>
                  <a:srgbClr val="FFFFFF"/>
                </a:solidFill>
                <a:latin typeface="Inter"/>
              </a:rPr>
              <a:t>Weekend casual-to-member conversion rate.</a:t>
            </a:r>
          </a:p>
        </p:txBody>
      </p:sp>
      <p:sp>
        <p:nvSpPr>
          <p:cNvPr id="15" name="Card 2"/>
          <p:cNvSpPr/>
          <p:nvPr/>
        </p:nvSpPr>
        <p:spPr>
          <a:xfrm>
            <a:off x="4399178" y="1554480"/>
            <a:ext cx="3393338" cy="4297680"/>
          </a:xfrm>
          <a:prstGeom prst="roundRect">
            <a:avLst>
              <a:gd name="adj" fmla="val 6000"/>
            </a:avLst>
          </a:prstGeom>
          <a:solidFill>
            <a:srgbClr val="163B45"/>
          </a:solidFill>
          <a:ln>
            <a:noFill/>
          </a:ln>
          <a:effectLst/>
        </p:spPr>
        <p:txBody>
          <a:bodyPr rtlCol="0" anchor="ctr"/>
          <a:lstStyle/>
          <a:p>
            <a:pPr algn="ctr"/>
            <a:endParaRPr lang="en-US"/>
          </a:p>
        </p:txBody>
      </p:sp>
      <p:sp>
        <p:nvSpPr>
          <p:cNvPr id="16" name="Number badge 2"/>
          <p:cNvSpPr/>
          <p:nvPr/>
        </p:nvSpPr>
        <p:spPr>
          <a:xfrm>
            <a:off x="4600346" y="1737360"/>
            <a:ext cx="457200" cy="457200"/>
          </a:xfrm>
          <a:prstGeom prst="ellipse">
            <a:avLst/>
          </a:prstGeom>
          <a:solidFill>
            <a:srgbClr val="E4F05A"/>
          </a:solidFill>
          <a:ln>
            <a:noFill/>
          </a:ln>
          <a:effectLst/>
        </p:spPr>
        <p:txBody>
          <a:bodyPr rtlCol="0" anchor="ctr"/>
          <a:lstStyle/>
          <a:p>
            <a:pPr algn="ctr"/>
            <a:endParaRPr lang="en-US"/>
          </a:p>
        </p:txBody>
      </p:sp>
      <p:sp>
        <p:nvSpPr>
          <p:cNvPr id="17" name="Number 2"/>
          <p:cNvSpPr txBox="1"/>
          <p:nvPr/>
        </p:nvSpPr>
        <p:spPr>
          <a:xfrm>
            <a:off x="4600346" y="1737360"/>
            <a:ext cx="457200" cy="457200"/>
          </a:xfrm>
          <a:prstGeom prst="rect">
            <a:avLst/>
          </a:prstGeom>
          <a:noFill/>
        </p:spPr>
        <p:txBody>
          <a:bodyPr wrap="square" lIns="0" tIns="0" rIns="0" bIns="0" anchor="ctr">
            <a:noAutofit/>
          </a:bodyPr>
          <a:lstStyle/>
          <a:p>
            <a:pPr algn="ctr"/>
            <a:r>
              <a:rPr lang="en-US" sz="2000" b="1">
                <a:solidFill>
                  <a:srgbClr val="1F4E5A"/>
                </a:solidFill>
                <a:latin typeface="Inter Display"/>
              </a:rPr>
              <a:t>2</a:t>
            </a:r>
          </a:p>
        </p:txBody>
      </p:sp>
      <p:sp>
        <p:nvSpPr>
          <p:cNvPr id="18" name="Headline 2"/>
          <p:cNvSpPr txBox="1"/>
          <p:nvPr/>
        </p:nvSpPr>
        <p:spPr>
          <a:xfrm>
            <a:off x="4600346" y="2331720"/>
            <a:ext cx="2991002" cy="685800"/>
          </a:xfrm>
          <a:prstGeom prst="rect">
            <a:avLst/>
          </a:prstGeom>
          <a:noFill/>
        </p:spPr>
        <p:txBody>
          <a:bodyPr wrap="square" lIns="0" tIns="0" rIns="0" bIns="0" anchor="t">
            <a:noAutofit/>
          </a:bodyPr>
          <a:lstStyle/>
          <a:p>
            <a:pPr algn="l"/>
            <a:r>
              <a:rPr lang="en-US" sz="2000" b="1">
                <a:solidFill>
                  <a:srgbClr val="E4F05A"/>
                </a:solidFill>
                <a:latin typeface="Inter Display"/>
              </a:rPr>
              <a:t>Show Riders What They Could Save</a:t>
            </a:r>
          </a:p>
        </p:txBody>
      </p:sp>
      <p:sp>
        <p:nvSpPr>
          <p:cNvPr id="19" name="Action 2"/>
          <p:cNvSpPr txBox="1"/>
          <p:nvPr/>
        </p:nvSpPr>
        <p:spPr>
          <a:xfrm>
            <a:off x="4600346" y="3063240"/>
            <a:ext cx="2991002" cy="777240"/>
          </a:xfrm>
          <a:prstGeom prst="rect">
            <a:avLst/>
          </a:prstGeom>
          <a:noFill/>
        </p:spPr>
        <p:txBody>
          <a:bodyPr wrap="square" lIns="0" tIns="0" rIns="0" bIns="0" anchor="t">
            <a:noAutofit/>
          </a:bodyPr>
          <a:lstStyle/>
          <a:p>
            <a:pPr algn="l"/>
            <a:r>
              <a:rPr lang="en-US" sz="1400" b="0">
                <a:solidFill>
                  <a:srgbClr val="FFFFFF"/>
                </a:solidFill>
                <a:latin typeface="Inter"/>
              </a:rPr>
              <a:t>Send in-app and email prompts after long rides comparing what they paid with membership cost.</a:t>
            </a:r>
          </a:p>
        </p:txBody>
      </p:sp>
      <p:sp>
        <p:nvSpPr>
          <p:cNvPr id="20" name="Why label 2"/>
          <p:cNvSpPr txBox="1"/>
          <p:nvPr/>
        </p:nvSpPr>
        <p:spPr>
          <a:xfrm>
            <a:off x="4600346" y="3931920"/>
            <a:ext cx="2991002" cy="228600"/>
          </a:xfrm>
          <a:prstGeom prst="rect">
            <a:avLst/>
          </a:prstGeom>
          <a:noFill/>
        </p:spPr>
        <p:txBody>
          <a:bodyPr wrap="square" lIns="0" tIns="0" rIns="0" bIns="0" anchor="t">
            <a:noAutofit/>
          </a:bodyPr>
          <a:lstStyle/>
          <a:p>
            <a:pPr algn="l"/>
            <a:r>
              <a:rPr lang="en-US" sz="1200" b="1">
                <a:solidFill>
                  <a:srgbClr val="7FC4D1"/>
                </a:solidFill>
                <a:latin typeface="Inter"/>
              </a:rPr>
              <a:t>WHY (THE DATA)</a:t>
            </a:r>
          </a:p>
        </p:txBody>
      </p:sp>
      <p:sp>
        <p:nvSpPr>
          <p:cNvPr id="21" name="Why 2"/>
          <p:cNvSpPr txBox="1"/>
          <p:nvPr/>
        </p:nvSpPr>
        <p:spPr>
          <a:xfrm>
            <a:off x="4600346" y="4178808"/>
            <a:ext cx="2991002" cy="777240"/>
          </a:xfrm>
          <a:prstGeom prst="rect">
            <a:avLst/>
          </a:prstGeom>
          <a:noFill/>
        </p:spPr>
        <p:txBody>
          <a:bodyPr wrap="square" lIns="0" tIns="0" rIns="0" bIns="0" anchor="t">
            <a:noAutofit/>
          </a:bodyPr>
          <a:lstStyle/>
          <a:p>
            <a:pPr algn="l"/>
            <a:r>
              <a:rPr lang="en-US" sz="1400" b="0">
                <a:solidFill>
                  <a:srgbClr val="FFFFFF"/>
                </a:solidFill>
                <a:latin typeface="Inter"/>
              </a:rPr>
              <a:t>Casual rides average 15–21 min vs. 11.5–13 min for members.</a:t>
            </a:r>
          </a:p>
        </p:txBody>
      </p:sp>
      <p:sp>
        <p:nvSpPr>
          <p:cNvPr id="22" name="Track label 2"/>
          <p:cNvSpPr txBox="1"/>
          <p:nvPr/>
        </p:nvSpPr>
        <p:spPr>
          <a:xfrm>
            <a:off x="4600346" y="4937760"/>
            <a:ext cx="2991002" cy="228600"/>
          </a:xfrm>
          <a:prstGeom prst="rect">
            <a:avLst/>
          </a:prstGeom>
          <a:noFill/>
        </p:spPr>
        <p:txBody>
          <a:bodyPr wrap="square" lIns="0" tIns="0" rIns="0" bIns="0" anchor="t">
            <a:noAutofit/>
          </a:bodyPr>
          <a:lstStyle/>
          <a:p>
            <a:pPr algn="l"/>
            <a:r>
              <a:rPr lang="en-US" sz="1200" b="1">
                <a:solidFill>
                  <a:srgbClr val="7FC4D1"/>
                </a:solidFill>
                <a:latin typeface="Inter"/>
              </a:rPr>
              <a:t>METRIC TO TRACK</a:t>
            </a:r>
          </a:p>
        </p:txBody>
      </p:sp>
      <p:sp>
        <p:nvSpPr>
          <p:cNvPr id="23" name="Track 2"/>
          <p:cNvSpPr txBox="1"/>
          <p:nvPr/>
        </p:nvSpPr>
        <p:spPr>
          <a:xfrm>
            <a:off x="4600346" y="5184648"/>
            <a:ext cx="2991002" cy="457200"/>
          </a:xfrm>
          <a:prstGeom prst="rect">
            <a:avLst/>
          </a:prstGeom>
          <a:noFill/>
        </p:spPr>
        <p:txBody>
          <a:bodyPr wrap="square" lIns="0" tIns="0" rIns="0" bIns="0" anchor="t">
            <a:noAutofit/>
          </a:bodyPr>
          <a:lstStyle/>
          <a:p>
            <a:pPr algn="l"/>
            <a:r>
              <a:rPr lang="en-US" sz="1400" b="0">
                <a:solidFill>
                  <a:srgbClr val="FFFFFF"/>
                </a:solidFill>
                <a:latin typeface="Inter"/>
              </a:rPr>
              <a:t>Prompt click-through and sign-ups after long rides.</a:t>
            </a:r>
          </a:p>
        </p:txBody>
      </p:sp>
      <p:sp>
        <p:nvSpPr>
          <p:cNvPr id="24" name="Card 3"/>
          <p:cNvSpPr/>
          <p:nvPr/>
        </p:nvSpPr>
        <p:spPr>
          <a:xfrm>
            <a:off x="8066836" y="1554480"/>
            <a:ext cx="3393338" cy="4297680"/>
          </a:xfrm>
          <a:prstGeom prst="roundRect">
            <a:avLst>
              <a:gd name="adj" fmla="val 6000"/>
            </a:avLst>
          </a:prstGeom>
          <a:solidFill>
            <a:srgbClr val="163B45"/>
          </a:solidFill>
          <a:ln>
            <a:noFill/>
          </a:ln>
          <a:effectLst/>
        </p:spPr>
        <p:txBody>
          <a:bodyPr rtlCol="0" anchor="ctr"/>
          <a:lstStyle/>
          <a:p>
            <a:pPr algn="ctr"/>
            <a:endParaRPr lang="en-US"/>
          </a:p>
        </p:txBody>
      </p:sp>
      <p:sp>
        <p:nvSpPr>
          <p:cNvPr id="25" name="Number badge 3"/>
          <p:cNvSpPr/>
          <p:nvPr/>
        </p:nvSpPr>
        <p:spPr>
          <a:xfrm>
            <a:off x="8268004" y="1737360"/>
            <a:ext cx="457200" cy="457200"/>
          </a:xfrm>
          <a:prstGeom prst="ellipse">
            <a:avLst/>
          </a:prstGeom>
          <a:solidFill>
            <a:srgbClr val="E4F05A"/>
          </a:solidFill>
          <a:ln>
            <a:noFill/>
          </a:ln>
          <a:effectLst/>
        </p:spPr>
        <p:txBody>
          <a:bodyPr rtlCol="0" anchor="ctr"/>
          <a:lstStyle/>
          <a:p>
            <a:pPr algn="ctr"/>
            <a:endParaRPr lang="en-US"/>
          </a:p>
        </p:txBody>
      </p:sp>
      <p:sp>
        <p:nvSpPr>
          <p:cNvPr id="26" name="Number 3"/>
          <p:cNvSpPr txBox="1"/>
          <p:nvPr/>
        </p:nvSpPr>
        <p:spPr>
          <a:xfrm>
            <a:off x="8268004" y="1737360"/>
            <a:ext cx="457200" cy="457200"/>
          </a:xfrm>
          <a:prstGeom prst="rect">
            <a:avLst/>
          </a:prstGeom>
          <a:noFill/>
        </p:spPr>
        <p:txBody>
          <a:bodyPr wrap="square" lIns="0" tIns="0" rIns="0" bIns="0" anchor="ctr">
            <a:noAutofit/>
          </a:bodyPr>
          <a:lstStyle/>
          <a:p>
            <a:pPr algn="ctr"/>
            <a:r>
              <a:rPr lang="en-US" sz="2000" b="1">
                <a:solidFill>
                  <a:srgbClr val="1F4E5A"/>
                </a:solidFill>
                <a:latin typeface="Inter Display"/>
              </a:rPr>
              <a:t>3</a:t>
            </a:r>
          </a:p>
        </p:txBody>
      </p:sp>
      <p:sp>
        <p:nvSpPr>
          <p:cNvPr id="27" name="Headline 3"/>
          <p:cNvSpPr txBox="1"/>
          <p:nvPr/>
        </p:nvSpPr>
        <p:spPr>
          <a:xfrm>
            <a:off x="8268004" y="2331720"/>
            <a:ext cx="2991002" cy="685800"/>
          </a:xfrm>
          <a:prstGeom prst="rect">
            <a:avLst/>
          </a:prstGeom>
          <a:noFill/>
        </p:spPr>
        <p:txBody>
          <a:bodyPr wrap="square" lIns="0" tIns="0" rIns="0" bIns="0" anchor="t">
            <a:noAutofit/>
          </a:bodyPr>
          <a:lstStyle/>
          <a:p>
            <a:pPr algn="l"/>
            <a:r>
              <a:rPr lang="en-US" sz="2000" b="1">
                <a:solidFill>
                  <a:srgbClr val="E4F05A"/>
                </a:solidFill>
                <a:latin typeface="Inter Display"/>
              </a:rPr>
              <a:t>Make E-Bikes a Member Perk</a:t>
            </a:r>
          </a:p>
        </p:txBody>
      </p:sp>
      <p:sp>
        <p:nvSpPr>
          <p:cNvPr id="28" name="Action 3"/>
          <p:cNvSpPr txBox="1"/>
          <p:nvPr/>
        </p:nvSpPr>
        <p:spPr>
          <a:xfrm>
            <a:off x="8268004" y="3063240"/>
            <a:ext cx="2991002" cy="777240"/>
          </a:xfrm>
          <a:prstGeom prst="rect">
            <a:avLst/>
          </a:prstGeom>
          <a:noFill/>
        </p:spPr>
        <p:txBody>
          <a:bodyPr wrap="square" lIns="0" tIns="0" rIns="0" bIns="0" anchor="t">
            <a:noAutofit/>
          </a:bodyPr>
          <a:lstStyle/>
          <a:p>
            <a:pPr algn="l"/>
            <a:r>
              <a:rPr lang="en-US" sz="1400" b="0">
                <a:solidFill>
                  <a:srgbClr val="FFFFFF"/>
                </a:solidFill>
                <a:latin typeface="Inter"/>
              </a:rPr>
              <a:t>Feature discounted e-bike unlocks as the headline membership benefit.</a:t>
            </a:r>
          </a:p>
        </p:txBody>
      </p:sp>
      <p:sp>
        <p:nvSpPr>
          <p:cNvPr id="29" name="Why label 3"/>
          <p:cNvSpPr txBox="1"/>
          <p:nvPr/>
        </p:nvSpPr>
        <p:spPr>
          <a:xfrm>
            <a:off x="8268004" y="3931920"/>
            <a:ext cx="2991002" cy="228600"/>
          </a:xfrm>
          <a:prstGeom prst="rect">
            <a:avLst/>
          </a:prstGeom>
          <a:noFill/>
        </p:spPr>
        <p:txBody>
          <a:bodyPr wrap="square" lIns="0" tIns="0" rIns="0" bIns="0" anchor="t">
            <a:noAutofit/>
          </a:bodyPr>
          <a:lstStyle/>
          <a:p>
            <a:pPr algn="l"/>
            <a:r>
              <a:rPr lang="en-US" sz="1200" b="1">
                <a:solidFill>
                  <a:srgbClr val="7FC4D1"/>
                </a:solidFill>
                <a:latin typeface="Inter"/>
              </a:rPr>
              <a:t>WHY (THE DATA)</a:t>
            </a:r>
          </a:p>
        </p:txBody>
      </p:sp>
      <p:sp>
        <p:nvSpPr>
          <p:cNvPr id="30" name="Why 3"/>
          <p:cNvSpPr txBox="1"/>
          <p:nvPr/>
        </p:nvSpPr>
        <p:spPr>
          <a:xfrm>
            <a:off x="8268004" y="4178808"/>
            <a:ext cx="2991002" cy="777240"/>
          </a:xfrm>
          <a:prstGeom prst="rect">
            <a:avLst/>
          </a:prstGeom>
          <a:noFill/>
        </p:spPr>
        <p:txBody>
          <a:bodyPr wrap="square" lIns="0" tIns="0" rIns="0" bIns="0" anchor="t">
            <a:noAutofit/>
          </a:bodyPr>
          <a:lstStyle/>
          <a:p>
            <a:pPr algn="l"/>
            <a:r>
              <a:rPr lang="en-US" sz="1400" b="0">
                <a:solidFill>
                  <a:srgbClr val="FFFFFF"/>
                </a:solidFill>
                <a:latin typeface="Inter"/>
              </a:rPr>
              <a:t>70.39% of all rides (4.23M) are on electric bikes.</a:t>
            </a:r>
          </a:p>
        </p:txBody>
      </p:sp>
      <p:sp>
        <p:nvSpPr>
          <p:cNvPr id="31" name="Track label 3"/>
          <p:cNvSpPr txBox="1"/>
          <p:nvPr/>
        </p:nvSpPr>
        <p:spPr>
          <a:xfrm>
            <a:off x="8268004" y="4937760"/>
            <a:ext cx="2991002" cy="228600"/>
          </a:xfrm>
          <a:prstGeom prst="rect">
            <a:avLst/>
          </a:prstGeom>
          <a:noFill/>
        </p:spPr>
        <p:txBody>
          <a:bodyPr wrap="square" lIns="0" tIns="0" rIns="0" bIns="0" anchor="t">
            <a:noAutofit/>
          </a:bodyPr>
          <a:lstStyle/>
          <a:p>
            <a:pPr algn="l"/>
            <a:r>
              <a:rPr lang="en-US" sz="1200" b="1">
                <a:solidFill>
                  <a:srgbClr val="7FC4D1"/>
                </a:solidFill>
                <a:latin typeface="Inter"/>
              </a:rPr>
              <a:t>METRIC TO TRACK</a:t>
            </a:r>
          </a:p>
        </p:txBody>
      </p:sp>
      <p:sp>
        <p:nvSpPr>
          <p:cNvPr id="32" name="Track 3"/>
          <p:cNvSpPr txBox="1"/>
          <p:nvPr/>
        </p:nvSpPr>
        <p:spPr>
          <a:xfrm>
            <a:off x="8268004" y="5184648"/>
            <a:ext cx="2991002" cy="457200"/>
          </a:xfrm>
          <a:prstGeom prst="rect">
            <a:avLst/>
          </a:prstGeom>
          <a:noFill/>
        </p:spPr>
        <p:txBody>
          <a:bodyPr wrap="square" lIns="0" tIns="0" rIns="0" bIns="0" anchor="t">
            <a:noAutofit/>
          </a:bodyPr>
          <a:lstStyle/>
          <a:p>
            <a:pPr algn="l"/>
            <a:r>
              <a:rPr lang="en-US" sz="1400" b="0">
                <a:solidFill>
                  <a:srgbClr val="FFFFFF"/>
                </a:solidFill>
                <a:latin typeface="Inter"/>
              </a:rPr>
              <a:t>E-bike share of new member sign-ups.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1300</Words>
  <Application>Microsoft Office PowerPoint</Application>
  <PresentationFormat>Widescreen</PresentationFormat>
  <Paragraphs>78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Inter</vt:lpstr>
      <vt:lpstr>Inter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vireak</dc:creator>
  <cp:keywords/>
  <dc:description>generated using python-pptx</dc:description>
  <cp:lastModifiedBy>Chann Daravireak</cp:lastModifiedBy>
  <cp:revision>2</cp:revision>
  <dcterms:created xsi:type="dcterms:W3CDTF">2013-01-27T09:14:16Z</dcterms:created>
  <dcterms:modified xsi:type="dcterms:W3CDTF">2026-10-28T02:51:01Z</dcterms:modified>
  <cp:category/>
</cp:coreProperties>
</file>